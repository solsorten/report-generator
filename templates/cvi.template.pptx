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83433" r:id="rId2"/>
    <p:sldId id="2147471889" r:id="rId3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981F9D-4ACD-49CA-BFCA-6F1CE3116426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99AE3-A699-4863-8F53-17BB740FEDC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9414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FB3D5-3AED-311D-868A-4638A65E2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17634468-7DAC-FD8E-2340-B9ECFCE77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8E2CAFE2-5C8C-CF3B-C3DA-931BA17A4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429CC15-4DDE-802D-B423-C202A90E8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6CFAD1-D197-4A88-B173-A6412E995EE5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is For Offic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is For Offi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322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16CFAD1-D197-4A88-B173-A6412E995EE5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is For Office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is For Offi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5881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3D2F-F5B8-E0A7-55D0-9C56A204E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EE747-BB0F-49FC-7470-8CD27547C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E26C3-3281-A094-6164-A730043A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4D175-DECA-F17F-24C0-2E63D37F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A7FFC-EBC8-ABF7-357F-D346B713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8562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C081A-879B-4C98-4AB7-BD8356DA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4C07-601D-F797-EE90-F4BFB5651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65E95-D1DA-A5A2-B293-A6BF773C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71BA-9B4A-B04B-2B2F-E7828C06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E4540-767F-182B-2006-7635EE4C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12281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A91A-D51D-F865-B5C8-50551C9DF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23836-9747-6E36-245A-FEB136D69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EEF47-6034-2567-1202-3180D1758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96563-9C11-2437-BC19-D24946721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21D68-D17D-E387-48B7-E41934594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9772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54CA-FED5-0F86-1BF8-18F72155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875F0-22B8-55F2-ECE4-DA2324CE1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2F96B-E7BD-345E-83AB-194AA6750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5FF1C6-A398-EA40-88C7-427DCEC6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320CD-ED5A-6F7D-E65F-3748BA79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73796-D3DD-60B5-5851-DB67FE2F8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01372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B997-B0C6-1C08-7399-EFA6F7F17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202CB-2377-0764-68E3-33E86949D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068D1-F8E5-C855-7E76-3C54BD66F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57D089-04B2-CDEF-D57D-80885A30C2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9F3787-ED0C-E966-AC4F-6DBF1E5AB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93690-39AA-4C0A-1FBA-EBA919052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7D70B2-D3B3-71D7-0328-B7D8BA72F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5AE67-0F14-4907-4852-2E9F0C93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6473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C17F1-361F-7289-0ACD-84DD6ABF5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8E2C14-77B1-9A9B-B77B-7738E622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E0787-AF70-355C-3F3A-6828BE07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AFC9D-3D3B-50D7-7D81-B1FAEB5F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38971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00316C-A54E-8FBA-DE01-B31DA786C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353F1E-C671-630E-4113-F11ABB4C0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8BA14-A303-7CCD-E6E5-5B479BC94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87637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70B24-F58D-908A-B94F-2EDB75B33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A97A7-7015-2075-D117-C1F1A9EBB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1ACFB-DABC-FA2D-1E85-E7CE98383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F3E84-0707-68C6-D464-8B20E4654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B7F54-5240-2A51-6E44-0DDE13A5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C1F85-4031-3CA3-98D0-DE2B036C4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0423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CC2D0-54DD-4FB8-B87A-6BBCA07A7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BA0C9-B92C-77DB-29BF-1BBA087BC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D4E4F1-F404-386A-C9B2-DEB05F3F0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0FD3E7-BB67-7CFE-9FBB-F7E4E9D5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6AC60-AF7B-B16B-438E-4CEA583F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7E254-9121-70B4-028A-137A72A51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76969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AAB9-E7B1-200B-4AC5-D3F4FB41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EE2FA-788F-BD85-3BF6-C202C28D9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EAB9A-39F0-B6D6-ADF5-C024BE6F4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0D68A-2A67-71C9-1858-6D63C514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B17AA-1414-BE27-62F4-E3B0A486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7717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250CA-392B-5263-344E-7F4503BE2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34705-D812-C132-9B4E-B6431D914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A9337-0700-5A8B-D2AF-DC06D0D89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E125E-27E6-5FF3-109F-B55301531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00D18-8BBE-8549-98BF-091B654DE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9397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.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48000" y="1940566"/>
            <a:ext cx="6408000" cy="426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5FBB5C-0CC0-45DE-A9E2-8C9E2CA034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380000" y="1940566"/>
            <a:ext cx="4164000" cy="426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82791-4F8E-4072-A90B-7DDBA5BDD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39FD-E012-4776-AAAF-DD2028955D79}" type="datetime3">
              <a:rPr lang="en-US" smtClean="0"/>
              <a:t>24 April 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F7B92D-8DE2-4AAE-9F57-625CFD54A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1B1983-58ED-417B-836C-01C783DF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6BE7D1E-8977-4FBA-BE12-1091DAF345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7999" y="6210000"/>
            <a:ext cx="8652000" cy="324000"/>
          </a:xfrm>
        </p:spPr>
        <p:txBody>
          <a:bodyPr anchor="b"/>
          <a:lstStyle>
            <a:lvl1pPr marL="0" indent="0">
              <a:buNone/>
              <a:defRPr sz="700"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Insert notes</a:t>
            </a:r>
          </a:p>
        </p:txBody>
      </p:sp>
    </p:spTree>
    <p:extLst>
      <p:ext uri="{BB962C8B-B14F-4D97-AF65-F5344CB8AC3E}">
        <p14:creationId xmlns:p14="http://schemas.microsoft.com/office/powerpoint/2010/main" val="354782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C6F86F-B88E-D370-3A83-9264B8488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4B60B-D63D-3DCF-37EF-084DF0405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48855-E183-3304-512C-9B2EE04C5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95D27-55D6-4A72-A14F-8319D6E13AFD}" type="datetimeFigureOut">
              <a:rPr lang="en-DK" smtClean="0"/>
              <a:t>24/04/2026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AD1FA-6124-6DF2-27CF-24CD5EA878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F8405-61F8-51BF-20D5-4EF36E5D9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B782D5-2CA2-4C84-8328-D98CEFAC4AA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14569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BA42B-B163-E850-2BEC-F16A3F4A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F5EA3F-D979-21B0-32FB-8D021F248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09678"/>
              </p:ext>
            </p:extLst>
          </p:nvPr>
        </p:nvGraphicFramePr>
        <p:xfrm>
          <a:off x="522940" y="1765402"/>
          <a:ext cx="7111985" cy="399781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19513">
                  <a:extLst>
                    <a:ext uri="{9D8B030D-6E8A-4147-A177-3AD203B41FA5}">
                      <a16:colId xmlns:a16="http://schemas.microsoft.com/office/drawing/2014/main" val="3657625561"/>
                    </a:ext>
                  </a:extLst>
                </a:gridCol>
                <a:gridCol w="1159304">
                  <a:extLst>
                    <a:ext uri="{9D8B030D-6E8A-4147-A177-3AD203B41FA5}">
                      <a16:colId xmlns:a16="http://schemas.microsoft.com/office/drawing/2014/main" val="2480193709"/>
                    </a:ext>
                  </a:extLst>
                </a:gridCol>
                <a:gridCol w="2116584">
                  <a:extLst>
                    <a:ext uri="{9D8B030D-6E8A-4147-A177-3AD203B41FA5}">
                      <a16:colId xmlns:a16="http://schemas.microsoft.com/office/drawing/2014/main" val="2019113609"/>
                    </a:ext>
                  </a:extLst>
                </a:gridCol>
                <a:gridCol w="2116584">
                  <a:extLst>
                    <a:ext uri="{9D8B030D-6E8A-4147-A177-3AD203B41FA5}">
                      <a16:colId xmlns:a16="http://schemas.microsoft.com/office/drawing/2014/main" val="3890838406"/>
                    </a:ext>
                  </a:extLst>
                </a:gridCol>
              </a:tblGrid>
              <a:tr h="52657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u="none" strike="noStrike">
                          <a:solidFill>
                            <a:srgbClr val="001965"/>
                          </a:solidFill>
                          <a:effectLst/>
                        </a:rPr>
                        <a:t>Top priority markets*</a:t>
                      </a:r>
                      <a:endParaRPr lang="en-US" sz="1100" b="1" i="0" u="none" strike="noStrike">
                        <a:solidFill>
                          <a:srgbClr val="001965"/>
                        </a:solidFill>
                        <a:effectLst/>
                        <a:latin typeface="Apis For Office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u="none" strike="noStrike">
                          <a:solidFill>
                            <a:srgbClr val="001965"/>
                          </a:solidFill>
                          <a:effectLst/>
                        </a:rPr>
                        <a:t>Visits </a:t>
                      </a:r>
                      <a:endParaRPr lang="en-US" sz="1100" b="1" i="0" u="none" strike="noStrike">
                        <a:solidFill>
                          <a:srgbClr val="001965"/>
                        </a:solidFill>
                        <a:effectLst/>
                        <a:latin typeface="Apis For Office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u="none" strike="noStrike">
                          <a:solidFill>
                            <a:srgbClr val="001965"/>
                          </a:solidFill>
                          <a:effectLst/>
                        </a:rPr>
                        <a:t>Avg time on site</a:t>
                      </a:r>
                      <a:endParaRPr lang="en-US" sz="1100" b="1" i="0" u="none" strike="noStrike">
                        <a:solidFill>
                          <a:srgbClr val="001965"/>
                        </a:solidFill>
                        <a:effectLst/>
                        <a:latin typeface="Apis For Office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u="none" strike="noStrike">
                          <a:solidFill>
                            <a:srgbClr val="001965"/>
                          </a:solidFill>
                          <a:effectLst/>
                        </a:rPr>
                        <a:t>Video &amp; Download Rate</a:t>
                      </a:r>
                      <a:endParaRPr lang="en-US" sz="1100" b="1" i="0" u="none" strike="noStrike">
                        <a:solidFill>
                          <a:srgbClr val="001965"/>
                        </a:solidFill>
                        <a:effectLst/>
                        <a:latin typeface="Apis For Office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815267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1" u="none" strike="noStrike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Total (priority markets)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 b="1" i="1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 b="1" i="1" u="none" strike="noStrike">
                        <a:solidFill>
                          <a:srgbClr val="001965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 b="1" i="1" u="none" strike="noStrike" dirty="0">
                        <a:solidFill>
                          <a:srgbClr val="00206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242539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99413662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610944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099460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227227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889490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>
                      <a:noFill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8117189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63224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>
                      <a:noFill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366617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>
                      <a:noFill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233063"/>
                  </a:ext>
                </a:extLst>
              </a:tr>
              <a:tr h="3155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anchor="ctr">
                    <a:lnR>
                      <a:noFill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02624"/>
                  </a:ext>
                </a:extLst>
              </a:tr>
            </a:tbl>
          </a:graphicData>
        </a:graphic>
      </p:graphicFrame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37C9BB3-6EBF-F8B0-9EB1-3639293E362E}"/>
              </a:ext>
            </a:extLst>
          </p:cNvPr>
          <p:cNvCxnSpPr>
            <a:cxnSpLocks noChangeAspect="1"/>
          </p:cNvCxnSpPr>
          <p:nvPr/>
        </p:nvCxnSpPr>
        <p:spPr>
          <a:xfrm>
            <a:off x="406399" y="6294897"/>
            <a:ext cx="11378098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0D4B980F-6029-6858-4D7A-CF610B9D3087}"/>
              </a:ext>
            </a:extLst>
          </p:cNvPr>
          <p:cNvSpPr txBox="1">
            <a:spLocks/>
          </p:cNvSpPr>
          <p:nvPr/>
        </p:nvSpPr>
        <p:spPr>
          <a:xfrm>
            <a:off x="406398" y="715941"/>
            <a:ext cx="11289553" cy="93216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6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b="0" cap="none" spc="0">
                <a:solidFill>
                  <a:srgbClr val="001965"/>
                </a:solidFill>
                <a:latin typeface="Apis For Office"/>
              </a:rPr>
              <a:t>Write title </a:t>
            </a:r>
            <a:endParaRPr lang="en-US" sz="3200" b="0" cap="none" spc="0" dirty="0">
              <a:solidFill>
                <a:srgbClr val="001965"/>
              </a:solidFill>
              <a:latin typeface="Apis For Office"/>
            </a:endParaRPr>
          </a:p>
        </p:txBody>
      </p:sp>
      <p:sp>
        <p:nvSpPr>
          <p:cNvPr id="4" name="Rectangle 21">
            <a:extLst>
              <a:ext uri="{FF2B5EF4-FFF2-40B4-BE49-F238E27FC236}">
                <a16:creationId xmlns:a16="http://schemas.microsoft.com/office/drawing/2014/main" id="{17D9AA97-031A-1F6B-0033-9D0D2445E9BE}"/>
              </a:ext>
            </a:extLst>
          </p:cNvPr>
          <p:cNvSpPr/>
          <p:nvPr/>
        </p:nvSpPr>
        <p:spPr>
          <a:xfrm>
            <a:off x="8109472" y="1757786"/>
            <a:ext cx="3586479" cy="3827465"/>
          </a:xfrm>
          <a:prstGeom prst="rect">
            <a:avLst/>
          </a:prstGeom>
          <a:noFill/>
          <a:ln w="9525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91440" rIns="144000" bIns="108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latin typeface="Apis For Office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44451-15CA-0B82-C62A-682D3453EB14}"/>
              </a:ext>
            </a:extLst>
          </p:cNvPr>
          <p:cNvSpPr txBox="1"/>
          <p:nvPr/>
        </p:nvSpPr>
        <p:spPr>
          <a:xfrm>
            <a:off x="8151303" y="1916115"/>
            <a:ext cx="3517753" cy="3077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Write insight </a:t>
            </a:r>
            <a:endParaRPr lang="en-US" sz="1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8C41A197-9C1B-DD0E-53B3-EAF4B4CC363B}"/>
              </a:ext>
            </a:extLst>
          </p:cNvPr>
          <p:cNvSpPr txBox="1"/>
          <p:nvPr/>
        </p:nvSpPr>
        <p:spPr>
          <a:xfrm>
            <a:off x="8537249" y="1638383"/>
            <a:ext cx="2623557" cy="241285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1965"/>
                </a:solidFill>
                <a:effectLst/>
                <a:uLnTx/>
                <a:uFillTx/>
                <a:ea typeface="+mn-ea"/>
                <a:cs typeface="+mn-cs"/>
              </a:rPr>
              <a:t>Insights</a:t>
            </a:r>
            <a:endParaRPr kumimoji="0" lang="en-DK" sz="1400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0DC3737-FF39-B6BA-56C4-EE6013029FD7}"/>
              </a:ext>
            </a:extLst>
          </p:cNvPr>
          <p:cNvSpPr/>
          <p:nvPr/>
        </p:nvSpPr>
        <p:spPr>
          <a:xfrm>
            <a:off x="522944" y="1757787"/>
            <a:ext cx="7111986" cy="40054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E50BEB49-E590-BE98-BEC7-387CA424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324000"/>
            <a:ext cx="324000" cy="12585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AA811B-2EBD-4900-905E-5BE206449611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001965"/>
                </a:solidFill>
                <a:effectLst/>
                <a:uLnTx/>
                <a:uFillTx/>
                <a:latin typeface="Apis For Offic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latin typeface="Apis For Offi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107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E032CD-00F1-F15D-E367-346AD7F85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133121"/>
              </p:ext>
            </p:extLst>
          </p:nvPr>
        </p:nvGraphicFramePr>
        <p:xfrm>
          <a:off x="522943" y="1951054"/>
          <a:ext cx="6420780" cy="3673434"/>
        </p:xfrm>
        <a:graphic>
          <a:graphicData uri="http://schemas.openxmlformats.org/drawingml/2006/table">
            <a:tbl>
              <a:tblPr/>
              <a:tblGrid>
                <a:gridCol w="1722250">
                  <a:extLst>
                    <a:ext uri="{9D8B030D-6E8A-4147-A177-3AD203B41FA5}">
                      <a16:colId xmlns:a16="http://schemas.microsoft.com/office/drawing/2014/main" val="1277699823"/>
                    </a:ext>
                  </a:extLst>
                </a:gridCol>
                <a:gridCol w="939706">
                  <a:extLst>
                    <a:ext uri="{9D8B030D-6E8A-4147-A177-3AD203B41FA5}">
                      <a16:colId xmlns:a16="http://schemas.microsoft.com/office/drawing/2014/main" val="801056389"/>
                    </a:ext>
                  </a:extLst>
                </a:gridCol>
                <a:gridCol w="939706">
                  <a:extLst>
                    <a:ext uri="{9D8B030D-6E8A-4147-A177-3AD203B41FA5}">
                      <a16:colId xmlns:a16="http://schemas.microsoft.com/office/drawing/2014/main" val="2982569139"/>
                    </a:ext>
                  </a:extLst>
                </a:gridCol>
                <a:gridCol w="939706">
                  <a:extLst>
                    <a:ext uri="{9D8B030D-6E8A-4147-A177-3AD203B41FA5}">
                      <a16:colId xmlns:a16="http://schemas.microsoft.com/office/drawing/2014/main" val="3527232780"/>
                    </a:ext>
                  </a:extLst>
                </a:gridCol>
                <a:gridCol w="939706">
                  <a:extLst>
                    <a:ext uri="{9D8B030D-6E8A-4147-A177-3AD203B41FA5}">
                      <a16:colId xmlns:a16="http://schemas.microsoft.com/office/drawing/2014/main" val="1557081572"/>
                    </a:ext>
                  </a:extLst>
                </a:gridCol>
                <a:gridCol w="939706">
                  <a:extLst>
                    <a:ext uri="{9D8B030D-6E8A-4147-A177-3AD203B41FA5}">
                      <a16:colId xmlns:a16="http://schemas.microsoft.com/office/drawing/2014/main" val="3427207785"/>
                    </a:ext>
                  </a:extLst>
                </a:gridCol>
              </a:tblGrid>
              <a:tr h="65979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chemeClr val="accent1"/>
                          </a:solidFill>
                          <a:effectLst/>
                          <a:latin typeface="+mn-lt"/>
                        </a:rPr>
                        <a:t>Top Channels*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1965"/>
                          </a:solidFill>
                          <a:effectLst/>
                          <a:latin typeface="+mn-lt"/>
                        </a:rPr>
                        <a:t>Visits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1965"/>
                          </a:solidFill>
                          <a:effectLst/>
                          <a:latin typeface="+mn-lt"/>
                        </a:rPr>
                        <a:t>Unique visitors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1965"/>
                          </a:solidFill>
                          <a:effectLst/>
                          <a:latin typeface="+mn-lt"/>
                        </a:rPr>
                        <a:t>Cost per Unique Visitor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1965"/>
                          </a:solidFill>
                          <a:effectLst/>
                          <a:latin typeface="+mn-lt"/>
                        </a:rPr>
                        <a:t>Bounce Rate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001965"/>
                          </a:solidFill>
                          <a:effectLst/>
                          <a:latin typeface="+mn-lt"/>
                        </a:rPr>
                        <a:t>Average time on site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3919956"/>
                  </a:ext>
                </a:extLst>
              </a:tr>
              <a:tr h="389682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 i="0" u="none" strike="noStrike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Total (incl. Disclaimer page)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1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1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1" i="1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1" u="none" strike="noStrike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1" i="1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721248"/>
                  </a:ext>
                </a:extLst>
              </a:tr>
              <a:tr h="65599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0" i="0" u="none" strike="noStrike" dirty="0">
                          <a:solidFill>
                            <a:schemeClr val="accent2"/>
                          </a:solidFill>
                          <a:effectLst/>
                          <a:latin typeface="+mn-lt"/>
                        </a:rPr>
                        <a:t>Paid Social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accent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chemeClr val="accent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 dirty="0">
                        <a:solidFill>
                          <a:schemeClr val="accent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560038"/>
                  </a:ext>
                </a:extLst>
              </a:tr>
              <a:tr h="65599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Paid Search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1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 dirty="0">
                        <a:solidFill>
                          <a:schemeClr val="tx2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958020"/>
                  </a:ext>
                </a:extLst>
              </a:tr>
              <a:tr h="65599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accent3"/>
                          </a:solidFill>
                          <a:effectLst/>
                          <a:latin typeface="+mn-lt"/>
                        </a:rPr>
                        <a:t>Medscape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 dirty="0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7543478"/>
                  </a:ext>
                </a:extLst>
              </a:tr>
              <a:tr h="65599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0" i="0" u="none" strike="noStrike" dirty="0">
                          <a:solidFill>
                            <a:schemeClr val="accent4"/>
                          </a:solidFill>
                          <a:effectLst/>
                          <a:latin typeface="+mn-lt"/>
                        </a:rPr>
                        <a:t>Congress Organiser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0" i="0" u="none" strike="noStrike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NL" sz="1100" b="1" i="0" u="none" strike="noStrike" dirty="0"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120598"/>
                  </a:ext>
                </a:extLst>
              </a:tr>
            </a:tbl>
          </a:graphicData>
        </a:graphic>
      </p:graphicFrame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B89CD59-B8C7-86ED-C7EF-6E7276B240B9}"/>
              </a:ext>
            </a:extLst>
          </p:cNvPr>
          <p:cNvSpPr txBox="1">
            <a:spLocks/>
          </p:cNvSpPr>
          <p:nvPr/>
        </p:nvSpPr>
        <p:spPr>
          <a:xfrm>
            <a:off x="522943" y="741239"/>
            <a:ext cx="11261553" cy="99192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6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3200" b="0" cap="none" spc="0" dirty="0">
                <a:solidFill>
                  <a:srgbClr val="001965"/>
                </a:solidFill>
                <a:latin typeface="+mj-lt"/>
                <a:ea typeface="Helvetica Neue" panose="02000503000000020004" pitchFamily="2" charset="0"/>
                <a:cs typeface="Helvetica Neue" panose="02000503000000020004" pitchFamily="2" charset="0"/>
              </a:rPr>
              <a:t>Title about channels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1965"/>
              </a:solidFill>
              <a:effectLst/>
              <a:uLnTx/>
              <a:uFillTx/>
              <a:latin typeface="+mj-lt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Tekstfelt 23">
            <a:extLst>
              <a:ext uri="{FF2B5EF4-FFF2-40B4-BE49-F238E27FC236}">
                <a16:creationId xmlns:a16="http://schemas.microsoft.com/office/drawing/2014/main" id="{031C0EFE-FDD9-8EA0-46AF-AFE3F324AA38}"/>
              </a:ext>
            </a:extLst>
          </p:cNvPr>
          <p:cNvSpPr txBox="1"/>
          <p:nvPr/>
        </p:nvSpPr>
        <p:spPr>
          <a:xfrm>
            <a:off x="7116553" y="2208170"/>
            <a:ext cx="4523422" cy="246221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wrap="square" lIns="91440" tIns="0" rIns="91440" bIns="9144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000" dirty="0">
                <a:solidFill>
                  <a:srgbClr val="001965"/>
                </a:solidFill>
              </a:rPr>
              <a:t>Insight 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1965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79FF09-BD32-B38C-24F9-292895121C41}"/>
              </a:ext>
            </a:extLst>
          </p:cNvPr>
          <p:cNvSpPr txBox="1"/>
          <p:nvPr/>
        </p:nvSpPr>
        <p:spPr>
          <a:xfrm>
            <a:off x="665500" y="2025756"/>
            <a:ext cx="1325684" cy="15440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>
                <a:ln>
                  <a:noFill/>
                </a:ln>
                <a:solidFill>
                  <a:srgbClr val="001965"/>
                </a:solidFill>
                <a:effectLst/>
                <a:uLnTx/>
                <a:uFillTx/>
                <a:latin typeface="Apis For Office"/>
                <a:ea typeface="+mn-ea"/>
                <a:cs typeface="+mn-cs"/>
              </a:rPr>
              <a:t>Performance by channel</a:t>
            </a:r>
          </a:p>
        </p:txBody>
      </p:sp>
      <p:sp>
        <p:nvSpPr>
          <p:cNvPr id="22" name="TextBox 1">
            <a:extLst>
              <a:ext uri="{FF2B5EF4-FFF2-40B4-BE49-F238E27FC236}">
                <a16:creationId xmlns:a16="http://schemas.microsoft.com/office/drawing/2014/main" id="{DDA25D8F-7E9E-9DE2-1FCE-100B7ADF3B52}"/>
              </a:ext>
            </a:extLst>
          </p:cNvPr>
          <p:cNvSpPr txBox="1"/>
          <p:nvPr/>
        </p:nvSpPr>
        <p:spPr>
          <a:xfrm>
            <a:off x="8555711" y="2060028"/>
            <a:ext cx="1645105" cy="240259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001965"/>
                </a:solidFill>
                <a:effectLst/>
                <a:uLnTx/>
                <a:uFillTx/>
                <a:ea typeface="+mn-ea"/>
                <a:cs typeface="+mn-cs"/>
              </a:rPr>
              <a:t>Insights</a:t>
            </a:r>
            <a:endParaRPr kumimoji="0" lang="en-DK" sz="1400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D69BF0-8E05-6EF9-2EAC-13C8BF2DF4F7}"/>
              </a:ext>
            </a:extLst>
          </p:cNvPr>
          <p:cNvSpPr/>
          <p:nvPr/>
        </p:nvSpPr>
        <p:spPr>
          <a:xfrm>
            <a:off x="522943" y="1951055"/>
            <a:ext cx="6420781" cy="36734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DK" sz="2000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is For Office"/>
              <a:ea typeface="+mn-ea"/>
              <a:cs typeface="+mn-cs"/>
            </a:endParaRP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A5130F8-0E21-D6E4-42DA-938089A0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324000"/>
            <a:ext cx="324000" cy="12585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AA811B-2EBD-4900-905E-5BE206449611}" type="slidenum">
              <a:rPr kumimoji="0" lang="en-GB" sz="700" b="0" i="0" u="none" strike="noStrike" kern="1200" cap="none" spc="0" normalizeH="0" baseline="0" noProof="0" smtClean="0">
                <a:ln>
                  <a:noFill/>
                </a:ln>
                <a:solidFill>
                  <a:srgbClr val="001965"/>
                </a:solidFill>
                <a:effectLst/>
                <a:uLnTx/>
                <a:uFillTx/>
                <a:latin typeface="Apis For Office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700" b="0" i="0" u="none" strike="noStrike" kern="1200" cap="none" spc="0" normalizeH="0" baseline="0" noProof="0">
              <a:ln>
                <a:noFill/>
              </a:ln>
              <a:solidFill>
                <a:srgbClr val="001965"/>
              </a:solidFill>
              <a:effectLst/>
              <a:uLnTx/>
              <a:uFillTx/>
              <a:latin typeface="Apis For Office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2584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98dc247-4164-4d99-a44b-ea177dbebdb9}" enabled="1" method="Privileged" siteId="{139f0669-cebb-42df-b9e3-415009ddb69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65</Words>
  <Application>Microsoft Office PowerPoint</Application>
  <PresentationFormat>Widescreen</PresentationFormat>
  <Paragraphs>28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Apis For Office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Trung Nguyen</dc:creator>
  <cp:lastModifiedBy>Trung Nguyen</cp:lastModifiedBy>
  <cp:revision>3</cp:revision>
  <dcterms:created xsi:type="dcterms:W3CDTF">2026-04-23T11:36:46Z</dcterms:created>
  <dcterms:modified xsi:type="dcterms:W3CDTF">2026-04-24T07:24:14Z</dcterms:modified>
</cp:coreProperties>
</file>